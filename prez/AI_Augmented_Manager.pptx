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32BE609-EBF1-49A6-9F81-4D23E824EBCA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D9FB7E-485A-4F3E-A594-2192DA9F0C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96B0B94-0962-4E4F-A364-2B23298DE5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616080-1CCA-48FF-B203-06AEAE85EB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A5A655-8651-45E3-9A53-8A15E808DE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3D58C3-8400-475F-B33E-F255D58067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A1817F-94EA-4C57-BA8D-938DCBF9B6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2A52FE-08D6-4281-89E8-7284FF337B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0B9F29-FE11-4C43-B6D7-6864B815CA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B4B556-F1E1-462D-99C9-25F96DC508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45A9A2-75E9-404B-A0FD-BC432FD20F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156CCEC-FB80-4921-9AF4-9B4333B6D6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4.png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692640" y="-1463040"/>
            <a:ext cx="4114080" cy="4114080"/>
          </a:xfrm>
          <a:prstGeom prst="ellipse">
            <a:avLst/>
          </a:prstGeom>
          <a:solidFill>
            <a:srgbClr val="00A89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-1280160" y="4572000"/>
            <a:ext cx="3656880" cy="3656880"/>
          </a:xfrm>
          <a:prstGeom prst="ellipse">
            <a:avLst/>
          </a:prstGeom>
          <a:solidFill>
            <a:srgbClr val="02C39A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icons/robot_white.png"/>
          <p:cNvPicPr/>
          <p:nvPr/>
        </p:nvPicPr>
        <p:blipFill>
          <a:blip r:embed="rId1"/>
          <a:stretch/>
        </p:blipFill>
        <p:spPr>
          <a:xfrm>
            <a:off x="822960" y="868680"/>
            <a:ext cx="867960" cy="86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822960" y="1965960"/>
            <a:ext cx="9600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AI-Augmented Manager</a:t>
            </a:r>
            <a:endParaRPr lang="en-IN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822960" y="278892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Foundations Session: AI Agents, MCP &amp; Skill Files</a:t>
            </a:r>
            <a:endParaRPr lang="en-IN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822960" y="3291840"/>
            <a:ext cx="9600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Live Workshop Included — Let's Build a Skill File Together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(No code involved)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822960" y="4114800"/>
            <a:ext cx="2011680" cy="360"/>
          </a:xfrm>
          <a:prstGeom prst="line">
            <a:avLst/>
          </a:prstGeom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822960" y="429768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Srikanth Devarapalli  |  Sr. Manager | CDS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48640" y="457200"/>
            <a:ext cx="7314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A2A"/>
                </a:solidFill>
                <a:effectLst/>
                <a:uFillTx/>
                <a:latin typeface="Cambria"/>
                <a:ea typeface="Cambria"/>
              </a:rPr>
              <a:t>Why This Session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548640" y="105156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AI is a tool that extends what you already do well — not a replacement for your judgment.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548640" y="1965960"/>
            <a:ext cx="11063520" cy="1233720"/>
          </a:xfrm>
          <a:prstGeom prst="roundRect">
            <a:avLst>
              <a:gd name="adj" fmla="val 8889"/>
            </a:avLst>
          </a:prstGeom>
          <a:solidFill>
            <a:srgbClr val="EAF5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868680" y="2258640"/>
            <a:ext cx="639360" cy="6393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0" descr="icons/hands_white.png"/>
          <p:cNvPicPr/>
          <p:nvPr/>
        </p:nvPicPr>
        <p:blipFill>
          <a:blip r:embed="rId1"/>
          <a:stretch/>
        </p:blipFill>
        <p:spPr>
          <a:xfrm>
            <a:off x="1042560" y="2432160"/>
            <a:ext cx="291960" cy="29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4"/>
          <p:cNvSpPr/>
          <p:nvPr/>
        </p:nvSpPr>
        <p:spPr>
          <a:xfrm>
            <a:off x="1874520" y="2130480"/>
            <a:ext cx="9051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Augmented, not automated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1874520" y="2532960"/>
            <a:ext cx="90518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AI supports your decisions. You stay in control of the outcome.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548640" y="3429000"/>
            <a:ext cx="11063520" cy="1233720"/>
          </a:xfrm>
          <a:prstGeom prst="roundRect">
            <a:avLst>
              <a:gd name="adj" fmla="val 8889"/>
            </a:avLst>
          </a:prstGeom>
          <a:solidFill>
            <a:srgbClr val="EAF5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868680" y="3721680"/>
            <a:ext cx="639360" cy="6393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1" descr="icons/bolt_white.png"/>
          <p:cNvPicPr/>
          <p:nvPr/>
        </p:nvPicPr>
        <p:blipFill>
          <a:blip r:embed="rId2"/>
          <a:stretch/>
        </p:blipFill>
        <p:spPr>
          <a:xfrm>
            <a:off x="1042560" y="3895200"/>
            <a:ext cx="291960" cy="29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8"/>
          <p:cNvSpPr/>
          <p:nvPr/>
        </p:nvSpPr>
        <p:spPr>
          <a:xfrm>
            <a:off x="1874520" y="3593520"/>
            <a:ext cx="9051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Practical, not hype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1874520" y="3996000"/>
            <a:ext cx="90518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No buzzwords — just three building blocks you'll actually use this week.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548640" y="4892040"/>
            <a:ext cx="11063520" cy="1233720"/>
          </a:xfrm>
          <a:prstGeom prst="roundRect">
            <a:avLst>
              <a:gd name="adj" fmla="val 8889"/>
            </a:avLst>
          </a:prstGeom>
          <a:solidFill>
            <a:srgbClr val="EAF5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1"/>
          <p:cNvSpPr/>
          <p:nvPr/>
        </p:nvSpPr>
        <p:spPr>
          <a:xfrm>
            <a:off x="868680" y="5184720"/>
            <a:ext cx="639360" cy="63936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2" descr="icons/check_white.png"/>
          <p:cNvPicPr/>
          <p:nvPr/>
        </p:nvPicPr>
        <p:blipFill>
          <a:blip r:embed="rId3"/>
          <a:stretch/>
        </p:blipFill>
        <p:spPr>
          <a:xfrm>
            <a:off x="1042560" y="5358240"/>
            <a:ext cx="291960" cy="29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12"/>
          <p:cNvSpPr/>
          <p:nvPr/>
        </p:nvSpPr>
        <p:spPr>
          <a:xfrm>
            <a:off x="1874520" y="5056560"/>
            <a:ext cx="9051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Hands-on, not theoretical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1874520" y="5459040"/>
            <a:ext cx="90518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We build a real Skill file together before this session ends.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48640" y="457200"/>
            <a:ext cx="5485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2A2A"/>
                </a:solidFill>
                <a:effectLst/>
                <a:uFillTx/>
                <a:latin typeface="Cambria"/>
                <a:ea typeface="Cambria"/>
              </a:rPr>
              <a:t>Agenda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548640" y="1371600"/>
            <a:ext cx="10051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A896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1691640" y="1481040"/>
            <a:ext cx="360" cy="914400"/>
          </a:xfrm>
          <a:prstGeom prst="line">
            <a:avLst/>
          </a:prstGeom>
          <a:ln w="1905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1920240" y="1371600"/>
            <a:ext cx="9417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What is an AI Agent?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1920240" y="1810440"/>
            <a:ext cx="9417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The difference between a chatbot and something that can act.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548640" y="2578680"/>
            <a:ext cx="10051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A896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6"/>
          <p:cNvSpPr/>
          <p:nvPr/>
        </p:nvSpPr>
        <p:spPr>
          <a:xfrm>
            <a:off x="1691640" y="2688120"/>
            <a:ext cx="360" cy="914400"/>
          </a:xfrm>
          <a:prstGeom prst="line">
            <a:avLst/>
          </a:prstGeom>
          <a:ln w="1905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1920240" y="2578680"/>
            <a:ext cx="9417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What is MCP?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1920240" y="3017520"/>
            <a:ext cx="9417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How an AI agent safely connects to your real tools — Jira, Slack, Sheets.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548640" y="3785760"/>
            <a:ext cx="10051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A896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0"/>
          <p:cNvSpPr/>
          <p:nvPr/>
        </p:nvSpPr>
        <p:spPr>
          <a:xfrm>
            <a:off x="1691640" y="3895200"/>
            <a:ext cx="360" cy="914400"/>
          </a:xfrm>
          <a:prstGeom prst="line">
            <a:avLst/>
          </a:prstGeom>
          <a:ln w="1905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1920240" y="3785760"/>
            <a:ext cx="9417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What is a Skill file?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1920240" y="4224600"/>
            <a:ext cx="9417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Turning your own know-how into instructions the AI can reuse.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548640" y="4992480"/>
            <a:ext cx="100512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A896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1691640" y="5102280"/>
            <a:ext cx="360" cy="914400"/>
          </a:xfrm>
          <a:prstGeom prst="line">
            <a:avLst/>
          </a:prstGeom>
          <a:ln w="1905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1920240" y="4992480"/>
            <a:ext cx="9417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Live Workshop</a:t>
            </a:r>
            <a:endParaRPr lang="en-IN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1920240" y="5431680"/>
            <a:ext cx="9417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We pick a manual task from your day and build a Skill file for it — together.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548640" y="457200"/>
            <a:ext cx="7314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2A"/>
                </a:solidFill>
                <a:effectLst/>
                <a:uFillTx/>
                <a:latin typeface="Cambria"/>
                <a:ea typeface="Cambria"/>
              </a:rPr>
              <a:t>What is an AI Agent?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548640" y="1280160"/>
            <a:ext cx="5577120" cy="49370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0" descr="icons/comments_seafoam.png"/>
          <p:cNvPicPr/>
          <p:nvPr/>
        </p:nvPicPr>
        <p:blipFill>
          <a:blip r:embed="rId1"/>
          <a:stretch/>
        </p:blipFill>
        <p:spPr>
          <a:xfrm>
            <a:off x="868680" y="155448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2"/>
          <p:cNvSpPr/>
          <p:nvPr/>
        </p:nvSpPr>
        <p:spPr>
          <a:xfrm>
            <a:off x="1463040" y="1572840"/>
            <a:ext cx="4479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A chatbot answers.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1463040" y="1993320"/>
            <a:ext cx="4479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It replies with text. You still have to go do the work yourself.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868680" y="2743200"/>
            <a:ext cx="4937760" cy="360"/>
          </a:xfrm>
          <a:prstGeom prst="line">
            <a:avLst/>
          </a:prstGeom>
          <a:ln w="1905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1" descr="icons/robot_teal.png"/>
          <p:cNvPicPr/>
          <p:nvPr/>
        </p:nvPicPr>
        <p:blipFill>
          <a:blip r:embed="rId2"/>
          <a:stretch/>
        </p:blipFill>
        <p:spPr>
          <a:xfrm>
            <a:off x="868680" y="292608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5"/>
          <p:cNvSpPr/>
          <p:nvPr/>
        </p:nvSpPr>
        <p:spPr>
          <a:xfrm>
            <a:off x="1463040" y="2944440"/>
            <a:ext cx="4479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An AI Agent acts.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1463040" y="3364920"/>
            <a:ext cx="44798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It reads real data, makes a decision, and carries out a task on your behalf — sending a message, updating a sheet, checking a ticket.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868680" y="4572000"/>
            <a:ext cx="4937040" cy="1416600"/>
          </a:xfrm>
          <a:prstGeom prst="roundRect">
            <a:avLst>
              <a:gd name="adj" fmla="val 6452"/>
            </a:avLst>
          </a:prstGeom>
          <a:solidFill>
            <a:srgbClr val="EAF5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1097280" y="4709160"/>
            <a:ext cx="4479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Manager analogy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1097280" y="5029200"/>
            <a:ext cx="4479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Think of an agent as a capable new team member: you give clear instructions once, and it follows them consistently — every time.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6400800" y="1280160"/>
            <a:ext cx="5211360" cy="15080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6675120" y="1664280"/>
            <a:ext cx="730800" cy="73080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2" descr="icons/bulb_white.png"/>
          <p:cNvPicPr/>
          <p:nvPr/>
        </p:nvPicPr>
        <p:blipFill>
          <a:blip r:embed="rId3"/>
          <a:stretch/>
        </p:blipFill>
        <p:spPr>
          <a:xfrm>
            <a:off x="6876360" y="186552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12"/>
          <p:cNvSpPr/>
          <p:nvPr/>
        </p:nvSpPr>
        <p:spPr>
          <a:xfrm>
            <a:off x="7589520" y="153612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Understands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7589520" y="1938600"/>
            <a:ext cx="3839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Reads instructions, tickets, messages, documents in plain language.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6400800" y="2971800"/>
            <a:ext cx="5211360" cy="15080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5"/>
          <p:cNvSpPr/>
          <p:nvPr/>
        </p:nvSpPr>
        <p:spPr>
          <a:xfrm>
            <a:off x="6675120" y="3355920"/>
            <a:ext cx="730800" cy="73080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3" descr="icons/cogs_white.png"/>
          <p:cNvPicPr/>
          <p:nvPr/>
        </p:nvPicPr>
        <p:blipFill>
          <a:blip r:embed="rId4"/>
          <a:stretch/>
        </p:blipFill>
        <p:spPr>
          <a:xfrm>
            <a:off x="6876360" y="355716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6"/>
          <p:cNvSpPr/>
          <p:nvPr/>
        </p:nvSpPr>
        <p:spPr>
          <a:xfrm>
            <a:off x="7589520" y="322776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Decides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7589520" y="3630240"/>
            <a:ext cx="3839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Chooses the right next step based on what it finds.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6400800" y="4663440"/>
            <a:ext cx="5211360" cy="15080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9"/>
          <p:cNvSpPr/>
          <p:nvPr/>
        </p:nvSpPr>
        <p:spPr>
          <a:xfrm>
            <a:off x="6675120" y="5047560"/>
            <a:ext cx="730800" cy="73080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4" descr="icons/check_white.png"/>
          <p:cNvPicPr/>
          <p:nvPr/>
        </p:nvPicPr>
        <p:blipFill>
          <a:blip r:embed="rId5"/>
          <a:stretch/>
        </p:blipFill>
        <p:spPr>
          <a:xfrm>
            <a:off x="6876360" y="524880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20"/>
          <p:cNvSpPr/>
          <p:nvPr/>
        </p:nvSpPr>
        <p:spPr>
          <a:xfrm>
            <a:off x="7589520" y="491940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Acts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7589520" y="5321880"/>
            <a:ext cx="3839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Uses tools to actually complete the task — not just describe it.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548640" y="45720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2A"/>
                </a:solidFill>
                <a:effectLst/>
                <a:uFillTx/>
                <a:latin typeface="Cambria"/>
                <a:ea typeface="Cambria"/>
              </a:rPr>
              <a:t>What is MCP?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548640" y="1005840"/>
            <a:ext cx="10789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Model Context Protocol — the universal adapter between AI and your tools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640080" y="2103120"/>
            <a:ext cx="2651040" cy="182808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 0" descr="icons/robot_white.png"/>
          <p:cNvPicPr/>
          <p:nvPr/>
        </p:nvPicPr>
        <p:blipFill>
          <a:blip r:embed="rId1"/>
          <a:stretch/>
        </p:blipFill>
        <p:spPr>
          <a:xfrm>
            <a:off x="1600200" y="2423160"/>
            <a:ext cx="730800" cy="73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3"/>
          <p:cNvSpPr/>
          <p:nvPr/>
        </p:nvSpPr>
        <p:spPr>
          <a:xfrm>
            <a:off x="640080" y="324612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 Agent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640080" y="3584520"/>
            <a:ext cx="2651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Knows what to do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1" descr="icons/plug_seafoam.png"/>
          <p:cNvPicPr/>
          <p:nvPr/>
        </p:nvPicPr>
        <p:blipFill>
          <a:blip r:embed="rId2"/>
          <a:stretch/>
        </p:blipFill>
        <p:spPr>
          <a:xfrm>
            <a:off x="3611880" y="2670120"/>
            <a:ext cx="685080" cy="68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5"/>
          <p:cNvSpPr/>
          <p:nvPr/>
        </p:nvSpPr>
        <p:spPr>
          <a:xfrm>
            <a:off x="3291840" y="3337560"/>
            <a:ext cx="1325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A896"/>
                </a:solidFill>
                <a:effectLst/>
                <a:uFillTx/>
                <a:latin typeface="Calibri"/>
                <a:ea typeface="Calibri"/>
              </a:rPr>
              <a:t>MCP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4617720" y="2103120"/>
            <a:ext cx="2651040" cy="182808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2" descr="icons/cogs_white.png"/>
          <p:cNvPicPr/>
          <p:nvPr/>
        </p:nvPicPr>
        <p:blipFill>
          <a:blip r:embed="rId3"/>
          <a:stretch/>
        </p:blipFill>
        <p:spPr>
          <a:xfrm>
            <a:off x="5577840" y="2423160"/>
            <a:ext cx="730800" cy="73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7"/>
          <p:cNvSpPr/>
          <p:nvPr/>
        </p:nvSpPr>
        <p:spPr>
          <a:xfrm>
            <a:off x="4617720" y="324612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Your Tools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4617720" y="3584520"/>
            <a:ext cx="2651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7FBF6"/>
                </a:solidFill>
                <a:effectLst/>
                <a:uFillTx/>
                <a:latin typeface="Calibri"/>
                <a:ea typeface="Calibri"/>
              </a:rPr>
              <a:t>Jira, Slack, Sheets, Confluence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3" descr="icons/arrow_mint.png"/>
          <p:cNvPicPr/>
          <p:nvPr/>
        </p:nvPicPr>
        <p:blipFill>
          <a:blip r:embed="rId4"/>
          <a:stretch/>
        </p:blipFill>
        <p:spPr>
          <a:xfrm>
            <a:off x="7452360" y="27889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Shape 9"/>
          <p:cNvSpPr/>
          <p:nvPr/>
        </p:nvSpPr>
        <p:spPr>
          <a:xfrm>
            <a:off x="8092440" y="2103120"/>
            <a:ext cx="3428280" cy="1828080"/>
          </a:xfrm>
          <a:prstGeom prst="roundRect">
            <a:avLst>
              <a:gd name="adj" fmla="val 6000"/>
            </a:avLst>
          </a:prstGeom>
          <a:solidFill>
            <a:srgbClr val="EAF5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4" descr="icons/check_teal.png"/>
          <p:cNvPicPr/>
          <p:nvPr/>
        </p:nvPicPr>
        <p:blipFill>
          <a:blip r:embed="rId5"/>
          <a:stretch/>
        </p:blipFill>
        <p:spPr>
          <a:xfrm>
            <a:off x="8366760" y="235908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10"/>
          <p:cNvSpPr/>
          <p:nvPr/>
        </p:nvSpPr>
        <p:spPr>
          <a:xfrm>
            <a:off x="8915400" y="2377440"/>
            <a:ext cx="2513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Task done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8366760" y="2880360"/>
            <a:ext cx="30625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A message sent, a sheet updated, a ticket moved — with no manual copy-paste.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2"/>
          <p:cNvSpPr/>
          <p:nvPr/>
        </p:nvSpPr>
        <p:spPr>
          <a:xfrm>
            <a:off x="640080" y="4434840"/>
            <a:ext cx="10880640" cy="1690920"/>
          </a:xfrm>
          <a:prstGeom prst="roundRect">
            <a:avLst>
              <a:gd name="adj" fmla="val 6486"/>
            </a:avLst>
          </a:prstGeom>
          <a:solidFill>
            <a:srgbClr val="F7FBFA"/>
          </a:solidFill>
          <a:ln w="1270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914400" y="461772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Manager analogy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4"/>
          <p:cNvSpPr/>
          <p:nvPr/>
        </p:nvSpPr>
        <p:spPr>
          <a:xfrm>
            <a:off x="914400" y="4937760"/>
            <a:ext cx="10332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MCP is like a universal power adapter. The AI speaks one language; every tool speaks its own. MCP is the plug in between — so the agent can safely read your Jira board or post to Slack without you writing custom integration code for each one.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48640" y="45720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2A"/>
                </a:solidFill>
                <a:effectLst/>
                <a:uFillTx/>
                <a:latin typeface="Cambria"/>
                <a:ea typeface="Cambria"/>
              </a:rPr>
              <a:t>What is a Skill File?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548640" y="1005840"/>
            <a:ext cx="10789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Your know-how, written down once, reused by the agent every time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548640" y="1691640"/>
            <a:ext cx="4845600" cy="457128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0" descr="icons/file_teal.png"/>
          <p:cNvPicPr/>
          <p:nvPr/>
        </p:nvPicPr>
        <p:blipFill>
          <a:blip r:embed="rId1"/>
          <a:stretch/>
        </p:blipFill>
        <p:spPr>
          <a:xfrm>
            <a:off x="868680" y="196596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3"/>
          <p:cNvSpPr/>
          <p:nvPr/>
        </p:nvSpPr>
        <p:spPr>
          <a:xfrm>
            <a:off x="1554480" y="2011680"/>
            <a:ext cx="3565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A Skill file is a plain-language playbook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1" descr="icons/check_mint.png"/>
          <p:cNvPicPr/>
          <p:nvPr/>
        </p:nvPicPr>
        <p:blipFill>
          <a:blip r:embed="rId2"/>
          <a:stretch/>
        </p:blipFill>
        <p:spPr>
          <a:xfrm>
            <a:off x="868680" y="291708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4"/>
          <p:cNvSpPr/>
          <p:nvPr/>
        </p:nvSpPr>
        <p:spPr>
          <a:xfrm>
            <a:off x="1207080" y="288036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Written like an SOP you'd hand a new hire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2" descr="icons/check_mint.png"/>
          <p:cNvPicPr/>
          <p:nvPr/>
        </p:nvPicPr>
        <p:blipFill>
          <a:blip r:embed="rId3"/>
          <a:stretch/>
        </p:blipFill>
        <p:spPr>
          <a:xfrm>
            <a:off x="868680" y="357516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5"/>
          <p:cNvSpPr/>
          <p:nvPr/>
        </p:nvSpPr>
        <p:spPr>
          <a:xfrm>
            <a:off x="1207080" y="353880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Says what to check, what 'good' looks like, and what to do next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3" descr="icons/check_mint.png"/>
          <p:cNvPicPr/>
          <p:nvPr/>
        </p:nvPicPr>
        <p:blipFill>
          <a:blip r:embed="rId4"/>
          <a:stretch/>
        </p:blipFill>
        <p:spPr>
          <a:xfrm>
            <a:off x="868680" y="423360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6"/>
          <p:cNvSpPr/>
          <p:nvPr/>
        </p:nvSpPr>
        <p:spPr>
          <a:xfrm>
            <a:off x="1207080" y="419724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Saved once — the agent reuses it every time the task comes up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4" descr="icons/check_mint.png"/>
          <p:cNvPicPr/>
          <p:nvPr/>
        </p:nvPicPr>
        <p:blipFill>
          <a:blip r:embed="rId5"/>
          <a:stretch/>
        </p:blipFill>
        <p:spPr>
          <a:xfrm>
            <a:off x="868680" y="489204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7"/>
          <p:cNvSpPr/>
          <p:nvPr/>
        </p:nvSpPr>
        <p:spPr>
          <a:xfrm>
            <a:off x="1207080" y="4855320"/>
            <a:ext cx="402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You can read it, edit it, and correct it in plain English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8"/>
          <p:cNvSpPr/>
          <p:nvPr/>
        </p:nvSpPr>
        <p:spPr>
          <a:xfrm>
            <a:off x="5669280" y="1691640"/>
            <a:ext cx="5942880" cy="4571280"/>
          </a:xfrm>
          <a:prstGeom prst="roundRect">
            <a:avLst>
              <a:gd name="adj" fmla="val 2400"/>
            </a:avLst>
          </a:prstGeom>
          <a:solidFill>
            <a:srgbClr val="1E2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5989320" y="1920240"/>
            <a:ext cx="5302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Example Skill (plain English)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5989320" y="2423160"/>
            <a:ext cx="1050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A896"/>
                </a:solidFill>
                <a:effectLst/>
                <a:uFillTx/>
                <a:latin typeface="Courier New"/>
                <a:ea typeface="Courier New"/>
              </a:rPr>
              <a:t>Trigger: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7086600" y="2423160"/>
            <a:ext cx="4296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"Send the weekly reminder"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5989320" y="2953440"/>
            <a:ext cx="1050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A896"/>
                </a:solidFill>
                <a:effectLst/>
                <a:uFillTx/>
                <a:latin typeface="Courier New"/>
                <a:ea typeface="Courier New"/>
              </a:rPr>
              <a:t>Step 1: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7086600" y="2953440"/>
            <a:ext cx="4296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Find every ticket still open past 5 days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4"/>
          <p:cNvSpPr/>
          <p:nvPr/>
        </p:nvSpPr>
        <p:spPr>
          <a:xfrm>
            <a:off x="5989320" y="3483720"/>
            <a:ext cx="1050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A896"/>
                </a:solidFill>
                <a:effectLst/>
                <a:uFillTx/>
                <a:latin typeface="Courier New"/>
                <a:ea typeface="Courier New"/>
              </a:rPr>
              <a:t>Step 2: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5"/>
          <p:cNvSpPr/>
          <p:nvPr/>
        </p:nvSpPr>
        <p:spPr>
          <a:xfrm>
            <a:off x="7086600" y="3483720"/>
            <a:ext cx="4296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Group them by the person assigned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5989320" y="4014360"/>
            <a:ext cx="1050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A896"/>
                </a:solidFill>
                <a:effectLst/>
                <a:uFillTx/>
                <a:latin typeface="Courier New"/>
                <a:ea typeface="Courier New"/>
              </a:rPr>
              <a:t>Step 3: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7"/>
          <p:cNvSpPr/>
          <p:nvPr/>
        </p:nvSpPr>
        <p:spPr>
          <a:xfrm>
            <a:off x="7086600" y="4014360"/>
            <a:ext cx="4296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Send each person a short Slack nudge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8"/>
          <p:cNvSpPr/>
          <p:nvPr/>
        </p:nvSpPr>
        <p:spPr>
          <a:xfrm>
            <a:off x="5989320" y="4544640"/>
            <a:ext cx="1050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A896"/>
                </a:solidFill>
                <a:effectLst/>
                <a:uFillTx/>
                <a:latin typeface="Courier New"/>
                <a:ea typeface="Courier New"/>
              </a:rPr>
              <a:t>Step 4: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9"/>
          <p:cNvSpPr/>
          <p:nvPr/>
        </p:nvSpPr>
        <p:spPr>
          <a:xfrm>
            <a:off x="7086600" y="4544640"/>
            <a:ext cx="4296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Post a summary count to the team channel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0"/>
          <p:cNvSpPr/>
          <p:nvPr/>
        </p:nvSpPr>
        <p:spPr>
          <a:xfrm>
            <a:off x="5989320" y="5120640"/>
            <a:ext cx="5303520" cy="360"/>
          </a:xfrm>
          <a:prstGeom prst="line">
            <a:avLst/>
          </a:prstGeom>
          <a:ln w="9525">
            <a:solidFill>
              <a:srgbClr val="5B6B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1"/>
          <p:cNvSpPr/>
          <p:nvPr/>
        </p:nvSpPr>
        <p:spPr>
          <a:xfrm>
            <a:off x="5989320" y="5303520"/>
            <a:ext cx="53028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Once saved, this becomes a one-line request — the agent remembers every step above.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4864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2A"/>
                </a:solidFill>
                <a:effectLst/>
                <a:uFillTx/>
                <a:latin typeface="Cambria"/>
                <a:ea typeface="Cambria"/>
              </a:rPr>
              <a:t>How the Three Fit Together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48640" y="1005840"/>
            <a:ext cx="10789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This is the formula behind every automation you'll build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731520" y="2103120"/>
            <a:ext cx="2879640" cy="191952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1714680" y="2331720"/>
            <a:ext cx="913680" cy="913680"/>
          </a:xfrm>
          <a:prstGeom prst="ellipse">
            <a:avLst/>
          </a:pr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0" descr="icons/robot_white.png"/>
          <p:cNvPicPr/>
          <p:nvPr/>
        </p:nvPicPr>
        <p:blipFill>
          <a:blip r:embed="rId1"/>
          <a:stretch/>
        </p:blipFill>
        <p:spPr>
          <a:xfrm>
            <a:off x="1897560" y="251460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4"/>
          <p:cNvSpPr/>
          <p:nvPr/>
        </p:nvSpPr>
        <p:spPr>
          <a:xfrm>
            <a:off x="731520" y="3429000"/>
            <a:ext cx="2879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 Agent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731520" y="3794760"/>
            <a:ext cx="287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0FBF9"/>
                </a:solidFill>
                <a:effectLst/>
                <a:uFillTx/>
                <a:latin typeface="Calibri"/>
                <a:ea typeface="Calibri"/>
              </a:rPr>
              <a:t>does the thinking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6"/>
          <p:cNvSpPr/>
          <p:nvPr/>
        </p:nvSpPr>
        <p:spPr>
          <a:xfrm>
            <a:off x="3630240" y="2743200"/>
            <a:ext cx="465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7"/>
          <p:cNvSpPr/>
          <p:nvPr/>
        </p:nvSpPr>
        <p:spPr>
          <a:xfrm>
            <a:off x="4114800" y="2103120"/>
            <a:ext cx="2879640" cy="1919520"/>
          </a:xfrm>
          <a:prstGeom prst="roundRect">
            <a:avLst>
              <a:gd name="adj" fmla="val 5714"/>
            </a:avLst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8"/>
          <p:cNvSpPr/>
          <p:nvPr/>
        </p:nvSpPr>
        <p:spPr>
          <a:xfrm>
            <a:off x="5097960" y="2331720"/>
            <a:ext cx="913680" cy="913680"/>
          </a:xfrm>
          <a:prstGeom prst="ellipse">
            <a:avLst/>
          </a:pr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1" descr="icons/file_teal.png"/>
          <p:cNvPicPr/>
          <p:nvPr/>
        </p:nvPicPr>
        <p:blipFill>
          <a:blip r:embed="rId2"/>
          <a:stretch/>
        </p:blipFill>
        <p:spPr>
          <a:xfrm>
            <a:off x="5280840" y="251460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9"/>
          <p:cNvSpPr/>
          <p:nvPr/>
        </p:nvSpPr>
        <p:spPr>
          <a:xfrm>
            <a:off x="4114800" y="3429000"/>
            <a:ext cx="2879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Skill File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4114800" y="3794760"/>
            <a:ext cx="287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0FBF9"/>
                </a:solidFill>
                <a:effectLst/>
                <a:uFillTx/>
                <a:latin typeface="Calibri"/>
                <a:ea typeface="Calibri"/>
              </a:rPr>
              <a:t>gives it your instructions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7013520" y="2743200"/>
            <a:ext cx="465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7498080" y="2103120"/>
            <a:ext cx="2879640" cy="1919520"/>
          </a:xfrm>
          <a:prstGeom prst="roundRect">
            <a:avLst>
              <a:gd name="adj" fmla="val 5714"/>
            </a:avLst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3"/>
          <p:cNvSpPr/>
          <p:nvPr/>
        </p:nvSpPr>
        <p:spPr>
          <a:xfrm>
            <a:off x="8481240" y="2331720"/>
            <a:ext cx="913680" cy="913680"/>
          </a:xfrm>
          <a:prstGeom prst="ellipse">
            <a:avLst/>
          </a:pr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2" descr="icons/plug_teal.png"/>
          <p:cNvPicPr/>
          <p:nvPr/>
        </p:nvPicPr>
        <p:blipFill>
          <a:blip r:embed="rId3"/>
          <a:stretch/>
        </p:blipFill>
        <p:spPr>
          <a:xfrm>
            <a:off x="8664120" y="251460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14"/>
          <p:cNvSpPr/>
          <p:nvPr/>
        </p:nvSpPr>
        <p:spPr>
          <a:xfrm>
            <a:off x="7498080" y="3429000"/>
            <a:ext cx="2879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MCP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5"/>
          <p:cNvSpPr/>
          <p:nvPr/>
        </p:nvSpPr>
        <p:spPr>
          <a:xfrm>
            <a:off x="7498080" y="3794760"/>
            <a:ext cx="2879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0FBF9"/>
                </a:solidFill>
                <a:effectLst/>
                <a:uFillTx/>
                <a:latin typeface="Calibri"/>
                <a:ea typeface="Calibri"/>
              </a:rPr>
              <a:t>connects it to your tools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6"/>
          <p:cNvSpPr/>
          <p:nvPr/>
        </p:nvSpPr>
        <p:spPr>
          <a:xfrm>
            <a:off x="10744200" y="2743200"/>
            <a:ext cx="456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=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7"/>
          <p:cNvSpPr/>
          <p:nvPr/>
        </p:nvSpPr>
        <p:spPr>
          <a:xfrm>
            <a:off x="731520" y="4480560"/>
            <a:ext cx="10697760" cy="1370880"/>
          </a:xfrm>
          <a:prstGeom prst="roundRect">
            <a:avLst>
              <a:gd name="adj" fmla="val 8000"/>
            </a:avLst>
          </a:prstGeom>
          <a:solidFill>
            <a:srgbClr val="EAF5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Image 3" descr="icons/bolt_teal.png"/>
          <p:cNvPicPr/>
          <p:nvPr/>
        </p:nvPicPr>
        <p:blipFill>
          <a:blip r:embed="rId4"/>
          <a:stretch/>
        </p:blipFill>
        <p:spPr>
          <a:xfrm>
            <a:off x="1005840" y="482796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 18"/>
          <p:cNvSpPr/>
          <p:nvPr/>
        </p:nvSpPr>
        <p:spPr>
          <a:xfrm>
            <a:off x="1874520" y="4709160"/>
            <a:ext cx="93261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A manual task, done for you — automatically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9"/>
          <p:cNvSpPr/>
          <p:nvPr/>
        </p:nvSpPr>
        <p:spPr>
          <a:xfrm>
            <a:off x="1874520" y="5139000"/>
            <a:ext cx="93261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The agent thinks, the Skill file tells it how you want it done, and MCP lets it actually reach your tools to finish the job.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8961120" y="4389120"/>
            <a:ext cx="4571280" cy="4571280"/>
          </a:xfrm>
          <a:prstGeom prst="ellipse">
            <a:avLst/>
          </a:prstGeom>
          <a:solidFill>
            <a:srgbClr val="00A896">
              <a:alpha val="2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"/>
          <p:cNvSpPr/>
          <p:nvPr/>
        </p:nvSpPr>
        <p:spPr>
          <a:xfrm>
            <a:off x="-1645920" y="-1645920"/>
            <a:ext cx="3291120" cy="3291120"/>
          </a:xfrm>
          <a:prstGeom prst="ellipse">
            <a:avLst/>
          </a:prstGeom>
          <a:solidFill>
            <a:srgbClr val="02C39A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0" descr="icons/clipboard_white.png"/>
          <p:cNvPicPr/>
          <p:nvPr/>
        </p:nvPicPr>
        <p:blipFill>
          <a:blip r:embed="rId1"/>
          <a:stretch/>
        </p:blipFill>
        <p:spPr>
          <a:xfrm>
            <a:off x="822960" y="182880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2"/>
          <p:cNvSpPr/>
          <p:nvPr/>
        </p:nvSpPr>
        <p:spPr>
          <a:xfrm>
            <a:off x="822960" y="2880360"/>
            <a:ext cx="91432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Live Workshop</a:t>
            </a:r>
            <a:endParaRPr lang="en-IN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822960" y="370332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Let's build a Skill file together — starting from a task you do manually today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548640" y="45720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2A"/>
                </a:solidFill>
                <a:effectLst/>
                <a:uFillTx/>
                <a:latin typeface="Cambria"/>
                <a:ea typeface="Cambria"/>
              </a:rPr>
              <a:t>Workshop Flow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548640" y="1005840"/>
            <a:ext cx="10789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Four simple steps — no coding required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548640" y="1783080"/>
            <a:ext cx="2605320" cy="4205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1486080" y="2057400"/>
            <a:ext cx="730800" cy="73080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548640" y="2057400"/>
            <a:ext cx="2605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731520" y="2971800"/>
            <a:ext cx="22395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Pick a manual task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731520" y="3703320"/>
            <a:ext cx="223956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Something you or your team repeats — a status update, a reminder, a weekly report.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7"/>
          <p:cNvSpPr/>
          <p:nvPr/>
        </p:nvSpPr>
        <p:spPr>
          <a:xfrm>
            <a:off x="3291840" y="1783080"/>
            <a:ext cx="2605320" cy="4205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8"/>
          <p:cNvSpPr/>
          <p:nvPr/>
        </p:nvSpPr>
        <p:spPr>
          <a:xfrm>
            <a:off x="4229280" y="2057400"/>
            <a:ext cx="730800" cy="73080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3291840" y="2057400"/>
            <a:ext cx="2605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3474720" y="2971800"/>
            <a:ext cx="22395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Describe it in plain English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1"/>
          <p:cNvSpPr/>
          <p:nvPr/>
        </p:nvSpPr>
        <p:spPr>
          <a:xfrm>
            <a:off x="3474720" y="3703320"/>
            <a:ext cx="223956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What do you check first? What decides the next step? What's the last action?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2"/>
          <p:cNvSpPr/>
          <p:nvPr/>
        </p:nvSpPr>
        <p:spPr>
          <a:xfrm>
            <a:off x="6035040" y="1783080"/>
            <a:ext cx="2605320" cy="4205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3"/>
          <p:cNvSpPr/>
          <p:nvPr/>
        </p:nvSpPr>
        <p:spPr>
          <a:xfrm>
            <a:off x="6972480" y="2057400"/>
            <a:ext cx="730800" cy="73080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6035040" y="2057400"/>
            <a:ext cx="2605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6217920" y="2971800"/>
            <a:ext cx="22395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Save it as a Skill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6"/>
          <p:cNvSpPr/>
          <p:nvPr/>
        </p:nvSpPr>
        <p:spPr>
          <a:xfrm>
            <a:off x="6217920" y="3703320"/>
            <a:ext cx="223956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We turn your description into a Skill file the agent can follow every time.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7"/>
          <p:cNvSpPr/>
          <p:nvPr/>
        </p:nvSpPr>
        <p:spPr>
          <a:xfrm>
            <a:off x="8778240" y="1783080"/>
            <a:ext cx="2605320" cy="4205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AF5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8"/>
          <p:cNvSpPr/>
          <p:nvPr/>
        </p:nvSpPr>
        <p:spPr>
          <a:xfrm>
            <a:off x="9715680" y="2057400"/>
            <a:ext cx="730800" cy="730800"/>
          </a:xfrm>
          <a:prstGeom prst="ellipse">
            <a:avLst/>
          </a:prstGeom>
          <a:solidFill>
            <a:srgbClr val="00A8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9"/>
          <p:cNvSpPr/>
          <p:nvPr/>
        </p:nvSpPr>
        <p:spPr>
          <a:xfrm>
            <a:off x="8778240" y="2057400"/>
            <a:ext cx="2605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0"/>
          <p:cNvSpPr/>
          <p:nvPr/>
        </p:nvSpPr>
        <p:spPr>
          <a:xfrm>
            <a:off x="8961120" y="2971800"/>
            <a:ext cx="22395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Test it live and refine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1"/>
          <p:cNvSpPr/>
          <p:nvPr/>
        </p:nvSpPr>
        <p:spPr>
          <a:xfrm>
            <a:off x="8961120" y="3703320"/>
            <a:ext cx="223956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Run it in the room, watch the output, and adjust the wording together.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548640" y="45720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A2A"/>
                </a:solidFill>
                <a:effectLst/>
                <a:uFillTx/>
                <a:latin typeface="Cambria"/>
                <a:ea typeface="Cambria"/>
              </a:rPr>
              <a:t>Bring a Real Task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548640" y="1005840"/>
            <a:ext cx="10789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The best workshop material is something you actually do every week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548640" y="1828800"/>
            <a:ext cx="2696760" cy="3016800"/>
          </a:xfrm>
          <a:prstGeom prst="roundRect">
            <a:avLst>
              <a:gd name="adj" fmla="val 4068"/>
            </a:avLst>
          </a:prstGeom>
          <a:solidFill>
            <a:srgbClr val="EAF5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"/>
          <p:cNvSpPr/>
          <p:nvPr/>
        </p:nvSpPr>
        <p:spPr>
          <a:xfrm>
            <a:off x="1531800" y="2148840"/>
            <a:ext cx="730800" cy="7308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0" descr="icons/comments_white.png"/>
          <p:cNvPicPr/>
          <p:nvPr/>
        </p:nvPicPr>
        <p:blipFill>
          <a:blip r:embed="rId1"/>
          <a:stretch/>
        </p:blipFill>
        <p:spPr>
          <a:xfrm>
            <a:off x="1714680" y="23317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4"/>
          <p:cNvSpPr/>
          <p:nvPr/>
        </p:nvSpPr>
        <p:spPr>
          <a:xfrm>
            <a:off x="685800" y="3063240"/>
            <a:ext cx="2422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Status nudges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731520" y="3611880"/>
            <a:ext cx="2331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Reminding people about overdue tickets or open items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3383280" y="1828800"/>
            <a:ext cx="2696760" cy="3016800"/>
          </a:xfrm>
          <a:prstGeom prst="roundRect">
            <a:avLst>
              <a:gd name="adj" fmla="val 4068"/>
            </a:avLst>
          </a:prstGeom>
          <a:solidFill>
            <a:srgbClr val="EAF5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7"/>
          <p:cNvSpPr/>
          <p:nvPr/>
        </p:nvSpPr>
        <p:spPr>
          <a:xfrm>
            <a:off x="4366440" y="2148840"/>
            <a:ext cx="730800" cy="7308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7" name="Image 1" descr="icons/clipboard_white.png"/>
          <p:cNvPicPr/>
          <p:nvPr/>
        </p:nvPicPr>
        <p:blipFill>
          <a:blip r:embed="rId2"/>
          <a:stretch/>
        </p:blipFill>
        <p:spPr>
          <a:xfrm>
            <a:off x="4549320" y="23317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xt 8"/>
          <p:cNvSpPr/>
          <p:nvPr/>
        </p:nvSpPr>
        <p:spPr>
          <a:xfrm>
            <a:off x="3520440" y="3063240"/>
            <a:ext cx="2422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Recurring reports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9"/>
          <p:cNvSpPr/>
          <p:nvPr/>
        </p:nvSpPr>
        <p:spPr>
          <a:xfrm>
            <a:off x="3566160" y="3611880"/>
            <a:ext cx="2331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A weekly roster, count, or summary you rebuild by hand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0"/>
          <p:cNvSpPr/>
          <p:nvPr/>
        </p:nvSpPr>
        <p:spPr>
          <a:xfrm>
            <a:off x="6217920" y="1828800"/>
            <a:ext cx="2696760" cy="3016800"/>
          </a:xfrm>
          <a:prstGeom prst="roundRect">
            <a:avLst>
              <a:gd name="adj" fmla="val 4068"/>
            </a:avLst>
          </a:prstGeom>
          <a:solidFill>
            <a:srgbClr val="EAF5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1"/>
          <p:cNvSpPr/>
          <p:nvPr/>
        </p:nvSpPr>
        <p:spPr>
          <a:xfrm>
            <a:off x="7201080" y="2148840"/>
            <a:ext cx="730800" cy="7308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2" descr="icons/users_white.png"/>
          <p:cNvPicPr/>
          <p:nvPr/>
        </p:nvPicPr>
        <p:blipFill>
          <a:blip r:embed="rId3"/>
          <a:stretch/>
        </p:blipFill>
        <p:spPr>
          <a:xfrm>
            <a:off x="7383960" y="23317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12"/>
          <p:cNvSpPr/>
          <p:nvPr/>
        </p:nvSpPr>
        <p:spPr>
          <a:xfrm>
            <a:off x="6355080" y="3063240"/>
            <a:ext cx="2422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Meeting follow-ups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3"/>
          <p:cNvSpPr/>
          <p:nvPr/>
        </p:nvSpPr>
        <p:spPr>
          <a:xfrm>
            <a:off x="6400800" y="3611880"/>
            <a:ext cx="2331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Turning notes or a transcript into action items by owner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4"/>
          <p:cNvSpPr/>
          <p:nvPr/>
        </p:nvSpPr>
        <p:spPr>
          <a:xfrm>
            <a:off x="9052560" y="1828800"/>
            <a:ext cx="2696760" cy="3016800"/>
          </a:xfrm>
          <a:prstGeom prst="roundRect">
            <a:avLst>
              <a:gd name="adj" fmla="val 4068"/>
            </a:avLst>
          </a:prstGeom>
          <a:solidFill>
            <a:srgbClr val="EAF5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5"/>
          <p:cNvSpPr/>
          <p:nvPr/>
        </p:nvSpPr>
        <p:spPr>
          <a:xfrm>
            <a:off x="10035720" y="2148840"/>
            <a:ext cx="730800" cy="730800"/>
          </a:xfrm>
          <a:prstGeom prst="ellipse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7" name="Image 3" descr="icons/shield_white.png"/>
          <p:cNvPicPr/>
          <p:nvPr/>
        </p:nvPicPr>
        <p:blipFill>
          <a:blip r:embed="rId4"/>
          <a:stretch/>
        </p:blipFill>
        <p:spPr>
          <a:xfrm>
            <a:off x="10218600" y="23317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16"/>
          <p:cNvSpPr/>
          <p:nvPr/>
        </p:nvSpPr>
        <p:spPr>
          <a:xfrm>
            <a:off x="9189720" y="3063240"/>
            <a:ext cx="2422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A2A"/>
                </a:solidFill>
                <a:effectLst/>
                <a:uFillTx/>
                <a:latin typeface="Calibri"/>
                <a:ea typeface="Calibri"/>
              </a:rPr>
              <a:t>Repeatable checks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7"/>
          <p:cNvSpPr/>
          <p:nvPr/>
        </p:nvSpPr>
        <p:spPr>
          <a:xfrm>
            <a:off x="9235440" y="3611880"/>
            <a:ext cx="2331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6A"/>
                </a:solidFill>
                <a:effectLst/>
                <a:uFillTx/>
                <a:latin typeface="Calibri"/>
                <a:ea typeface="Calibri"/>
              </a:rPr>
              <a:t>Anything you check the same way, over and over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8"/>
          <p:cNvSpPr/>
          <p:nvPr/>
        </p:nvSpPr>
        <p:spPr>
          <a:xfrm>
            <a:off x="548640" y="5074920"/>
            <a:ext cx="11063520" cy="1142280"/>
          </a:xfrm>
          <a:prstGeom prst="roundRect">
            <a:avLst>
              <a:gd name="adj" fmla="val 9600"/>
            </a:avLst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4" descr="icons/bulb_white.png"/>
          <p:cNvPicPr/>
          <p:nvPr/>
        </p:nvPicPr>
        <p:blipFill>
          <a:blip r:embed="rId5"/>
          <a:stretch/>
        </p:blipFill>
        <p:spPr>
          <a:xfrm>
            <a:off x="822960" y="534924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19"/>
          <p:cNvSpPr/>
          <p:nvPr/>
        </p:nvSpPr>
        <p:spPr>
          <a:xfrm>
            <a:off x="1554480" y="5303520"/>
            <a:ext cx="9783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 sure what to pick? Just describe your Monday morning — we'll find the automation in it, live.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-1463040" y="4206240"/>
            <a:ext cx="4114080" cy="4114080"/>
          </a:xfrm>
          <a:prstGeom prst="ellipse">
            <a:avLst/>
          </a:prstGeom>
          <a:solidFill>
            <a:srgbClr val="00A896">
              <a:alpha val="2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822960" y="685800"/>
            <a:ext cx="7314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Key Takeaways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822960" y="1691640"/>
            <a:ext cx="547920" cy="547920"/>
          </a:xfrm>
          <a:prstGeom prst="ellipse">
            <a:avLst/>
          </a:prstGeom>
          <a:solidFill>
            <a:srgbClr val="FFFFFF">
              <a:alpha val="8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0" descr="icons/robot_teal.png"/>
          <p:cNvPicPr/>
          <p:nvPr/>
        </p:nvPicPr>
        <p:blipFill>
          <a:blip r:embed="rId1"/>
          <a:stretch/>
        </p:blipFill>
        <p:spPr>
          <a:xfrm>
            <a:off x="960120" y="182880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3"/>
          <p:cNvSpPr/>
          <p:nvPr/>
        </p:nvSpPr>
        <p:spPr>
          <a:xfrm>
            <a:off x="1600200" y="173736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 AI Agent acts on tasks — it doesn't just chat about them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4"/>
          <p:cNvSpPr/>
          <p:nvPr/>
        </p:nvSpPr>
        <p:spPr>
          <a:xfrm>
            <a:off x="822960" y="2560320"/>
            <a:ext cx="547920" cy="547920"/>
          </a:xfrm>
          <a:prstGeom prst="ellipse">
            <a:avLst/>
          </a:prstGeom>
          <a:solidFill>
            <a:srgbClr val="FFFFFF">
              <a:alpha val="8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Image 1" descr="icons/plug_teal.png"/>
          <p:cNvPicPr/>
          <p:nvPr/>
        </p:nvPicPr>
        <p:blipFill>
          <a:blip r:embed="rId2"/>
          <a:stretch/>
        </p:blipFill>
        <p:spPr>
          <a:xfrm>
            <a:off x="960120" y="269748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 5"/>
          <p:cNvSpPr/>
          <p:nvPr/>
        </p:nvSpPr>
        <p:spPr>
          <a:xfrm>
            <a:off x="1600200" y="26060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MCP is the safe connector between the agent and your real tools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6"/>
          <p:cNvSpPr/>
          <p:nvPr/>
        </p:nvSpPr>
        <p:spPr>
          <a:xfrm>
            <a:off x="822960" y="3429000"/>
            <a:ext cx="547920" cy="547920"/>
          </a:xfrm>
          <a:prstGeom prst="ellipse">
            <a:avLst/>
          </a:prstGeom>
          <a:solidFill>
            <a:srgbClr val="FFFFFF">
              <a:alpha val="8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2" name="Image 2" descr="icons/file_teal.png"/>
          <p:cNvPicPr/>
          <p:nvPr/>
        </p:nvPicPr>
        <p:blipFill>
          <a:blip r:embed="rId3"/>
          <a:stretch/>
        </p:blipFill>
        <p:spPr>
          <a:xfrm>
            <a:off x="960120" y="356616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 7"/>
          <p:cNvSpPr/>
          <p:nvPr/>
        </p:nvSpPr>
        <p:spPr>
          <a:xfrm>
            <a:off x="1600200" y="347472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Skill file is your instructions, written once, reused forever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>
            <a:off x="822960" y="4297680"/>
            <a:ext cx="547920" cy="547920"/>
          </a:xfrm>
          <a:prstGeom prst="ellipse">
            <a:avLst/>
          </a:prstGeom>
          <a:solidFill>
            <a:srgbClr val="FFFFFF">
              <a:alpha val="8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Image 3" descr="icons/hands_teal.png"/>
          <p:cNvPicPr/>
          <p:nvPr/>
        </p:nvPicPr>
        <p:blipFill>
          <a:blip r:embed="rId4"/>
          <a:stretch/>
        </p:blipFill>
        <p:spPr>
          <a:xfrm>
            <a:off x="960120" y="443484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Text 9"/>
          <p:cNvSpPr/>
          <p:nvPr/>
        </p:nvSpPr>
        <p:spPr>
          <a:xfrm>
            <a:off x="1600200" y="434340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You built one today — augmented, in control, ready to reuse</a:t>
            </a:r>
            <a:endParaRPr lang="en-IN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0"/>
          <p:cNvSpPr/>
          <p:nvPr/>
        </p:nvSpPr>
        <p:spPr>
          <a:xfrm>
            <a:off x="822960" y="5532120"/>
            <a:ext cx="2743200" cy="360"/>
          </a:xfrm>
          <a:prstGeom prst="line">
            <a:avLst/>
          </a:prstGeom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1"/>
          <p:cNvSpPr/>
          <p:nvPr/>
        </p:nvSpPr>
        <p:spPr>
          <a:xfrm>
            <a:off x="822960" y="571500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Questions? Let's keep building.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LibreOffice/26.2.5.2$MacOSX_AARCH64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2026-09-06T00:50:16Z</dcterms:created>
  <dc:creator>PptxGenJS</dc:creator>
  <dc:description/>
  <dc:language>en-IN</dc:language>
  <cp:lastModifiedBy/>
  <dcterms:modified xsi:type="dcterms:W3CDTF">2026-09-06T06:50:49Z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